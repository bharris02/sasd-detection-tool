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76" r:id="rId5"/>
    <p:sldId id="269" r:id="rId6"/>
    <p:sldId id="259" r:id="rId7"/>
    <p:sldId id="270" r:id="rId8"/>
    <p:sldId id="260" r:id="rId9"/>
    <p:sldId id="271" r:id="rId10"/>
    <p:sldId id="272" r:id="rId11"/>
    <p:sldId id="261" r:id="rId12"/>
    <p:sldId id="262" r:id="rId13"/>
    <p:sldId id="273" r:id="rId14"/>
    <p:sldId id="263" r:id="rId15"/>
    <p:sldId id="264" r:id="rId16"/>
    <p:sldId id="265" r:id="rId17"/>
    <p:sldId id="266" r:id="rId18"/>
    <p:sldId id="274" r:id="rId19"/>
    <p:sldId id="267" r:id="rId20"/>
    <p:sldId id="275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595982-E74C-4F6F-BBCB-587D38CF5DD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CCF428-8709-43B1-A52B-182297C51D04}">
      <dgm:prSet/>
      <dgm:spPr/>
      <dgm:t>
        <a:bodyPr/>
        <a:lstStyle/>
        <a:p>
          <a:r>
            <a:rPr lang="en-GB" dirty="0"/>
            <a:t>1. Introduction</a:t>
          </a:r>
          <a:endParaRPr lang="en-US" dirty="0"/>
        </a:p>
      </dgm:t>
    </dgm:pt>
    <dgm:pt modelId="{803593D9-97F1-48D5-A68B-BEC6FF93B45A}" type="parTrans" cxnId="{E6011928-F5EA-4294-A51B-20FA1E493E20}">
      <dgm:prSet/>
      <dgm:spPr/>
      <dgm:t>
        <a:bodyPr/>
        <a:lstStyle/>
        <a:p>
          <a:endParaRPr lang="en-US"/>
        </a:p>
      </dgm:t>
    </dgm:pt>
    <dgm:pt modelId="{FBEA304F-6ABC-401A-A031-1DF5D333B834}" type="sibTrans" cxnId="{E6011928-F5EA-4294-A51B-20FA1E493E20}">
      <dgm:prSet/>
      <dgm:spPr/>
      <dgm:t>
        <a:bodyPr/>
        <a:lstStyle/>
        <a:p>
          <a:endParaRPr lang="en-US"/>
        </a:p>
      </dgm:t>
    </dgm:pt>
    <dgm:pt modelId="{BAC26CF6-D901-45EE-9C09-050CD1C227AF}">
      <dgm:prSet/>
      <dgm:spPr/>
      <dgm:t>
        <a:bodyPr/>
        <a:lstStyle/>
        <a:p>
          <a:r>
            <a:rPr lang="en-GB"/>
            <a:t>2. Literature Review Highlights</a:t>
          </a:r>
          <a:endParaRPr lang="en-US"/>
        </a:p>
      </dgm:t>
    </dgm:pt>
    <dgm:pt modelId="{2BB9D6BA-F856-4912-8150-DAAF685A7DB8}" type="parTrans" cxnId="{ECA1048B-C16C-4CDD-A681-981B23538396}">
      <dgm:prSet/>
      <dgm:spPr/>
      <dgm:t>
        <a:bodyPr/>
        <a:lstStyle/>
        <a:p>
          <a:endParaRPr lang="en-US"/>
        </a:p>
      </dgm:t>
    </dgm:pt>
    <dgm:pt modelId="{1FAED0F1-F961-4BEA-8A09-F98E2CBEC634}" type="sibTrans" cxnId="{ECA1048B-C16C-4CDD-A681-981B23538396}">
      <dgm:prSet/>
      <dgm:spPr/>
      <dgm:t>
        <a:bodyPr/>
        <a:lstStyle/>
        <a:p>
          <a:endParaRPr lang="en-US"/>
        </a:p>
      </dgm:t>
    </dgm:pt>
    <dgm:pt modelId="{C234E295-E7D8-434A-B4FB-8012CCA80C43}">
      <dgm:prSet/>
      <dgm:spPr/>
      <dgm:t>
        <a:bodyPr/>
        <a:lstStyle/>
        <a:p>
          <a:r>
            <a:rPr lang="en-GB"/>
            <a:t>3. Methodologies &amp; Software Demonstration</a:t>
          </a:r>
          <a:endParaRPr lang="en-US"/>
        </a:p>
      </dgm:t>
    </dgm:pt>
    <dgm:pt modelId="{E6B99D3D-E9BF-4B9B-957A-BA0F555DC8D3}" type="parTrans" cxnId="{394B996E-1D9F-4A8B-860C-405A7E622467}">
      <dgm:prSet/>
      <dgm:spPr/>
      <dgm:t>
        <a:bodyPr/>
        <a:lstStyle/>
        <a:p>
          <a:endParaRPr lang="en-US"/>
        </a:p>
      </dgm:t>
    </dgm:pt>
    <dgm:pt modelId="{0634428A-11B3-4BB0-BA27-B824F43EC6B0}" type="sibTrans" cxnId="{394B996E-1D9F-4A8B-860C-405A7E622467}">
      <dgm:prSet/>
      <dgm:spPr/>
      <dgm:t>
        <a:bodyPr/>
        <a:lstStyle/>
        <a:p>
          <a:endParaRPr lang="en-US"/>
        </a:p>
      </dgm:t>
    </dgm:pt>
    <dgm:pt modelId="{B1DBCAFC-65ED-47F8-89E8-D461E18806A3}">
      <dgm:prSet/>
      <dgm:spPr/>
      <dgm:t>
        <a:bodyPr/>
        <a:lstStyle/>
        <a:p>
          <a:r>
            <a:rPr lang="en-GB"/>
            <a:t>4. Results &amp; Analysis</a:t>
          </a:r>
          <a:endParaRPr lang="en-US"/>
        </a:p>
      </dgm:t>
    </dgm:pt>
    <dgm:pt modelId="{2753A859-7A7E-4C3D-9014-4A88D0523FDE}" type="parTrans" cxnId="{56DB7EE1-BE5D-4041-A013-1CBA044D20E8}">
      <dgm:prSet/>
      <dgm:spPr/>
      <dgm:t>
        <a:bodyPr/>
        <a:lstStyle/>
        <a:p>
          <a:endParaRPr lang="en-US"/>
        </a:p>
      </dgm:t>
    </dgm:pt>
    <dgm:pt modelId="{DCBFB8F7-5C19-4D8B-B76B-AF4152937ACF}" type="sibTrans" cxnId="{56DB7EE1-BE5D-4041-A013-1CBA044D20E8}">
      <dgm:prSet/>
      <dgm:spPr/>
      <dgm:t>
        <a:bodyPr/>
        <a:lstStyle/>
        <a:p>
          <a:endParaRPr lang="en-US"/>
        </a:p>
      </dgm:t>
    </dgm:pt>
    <dgm:pt modelId="{292799B2-FE28-4D50-8BA7-01B85FF4C8A2}">
      <dgm:prSet/>
      <dgm:spPr/>
      <dgm:t>
        <a:bodyPr/>
        <a:lstStyle/>
        <a:p>
          <a:r>
            <a:rPr lang="en-GB"/>
            <a:t>5. Conclusions &amp; Future Work</a:t>
          </a:r>
          <a:endParaRPr lang="en-US"/>
        </a:p>
      </dgm:t>
    </dgm:pt>
    <dgm:pt modelId="{3B52A823-E56D-4EFC-B870-70351CD6CA49}" type="parTrans" cxnId="{B95C354D-7A8A-4E7A-94A6-95899DFF9FA0}">
      <dgm:prSet/>
      <dgm:spPr/>
      <dgm:t>
        <a:bodyPr/>
        <a:lstStyle/>
        <a:p>
          <a:endParaRPr lang="en-US"/>
        </a:p>
      </dgm:t>
    </dgm:pt>
    <dgm:pt modelId="{A5425DC2-FB09-4893-8A6A-E09389D62E76}" type="sibTrans" cxnId="{B95C354D-7A8A-4E7A-94A6-95899DFF9FA0}">
      <dgm:prSet/>
      <dgm:spPr/>
      <dgm:t>
        <a:bodyPr/>
        <a:lstStyle/>
        <a:p>
          <a:endParaRPr lang="en-US"/>
        </a:p>
      </dgm:t>
    </dgm:pt>
    <dgm:pt modelId="{B640CE2A-DFC9-4321-9BA0-499CB1419A52}">
      <dgm:prSet/>
      <dgm:spPr/>
      <dgm:t>
        <a:bodyPr/>
        <a:lstStyle/>
        <a:p>
          <a:r>
            <a:rPr lang="en-GB" dirty="0"/>
            <a:t>6. Q&amp;A</a:t>
          </a:r>
          <a:endParaRPr lang="en-US" dirty="0"/>
        </a:p>
      </dgm:t>
    </dgm:pt>
    <dgm:pt modelId="{CCCFFB56-B1C2-4552-B5F0-6FE5C6D30FF5}" type="parTrans" cxnId="{A05698AD-F999-4FF0-9A9E-651F9BFD32CA}">
      <dgm:prSet/>
      <dgm:spPr/>
      <dgm:t>
        <a:bodyPr/>
        <a:lstStyle/>
        <a:p>
          <a:endParaRPr lang="en-US"/>
        </a:p>
      </dgm:t>
    </dgm:pt>
    <dgm:pt modelId="{41EEC443-376B-41A9-B914-EBFA3A976BE0}" type="sibTrans" cxnId="{A05698AD-F999-4FF0-9A9E-651F9BFD32CA}">
      <dgm:prSet/>
      <dgm:spPr/>
      <dgm:t>
        <a:bodyPr/>
        <a:lstStyle/>
        <a:p>
          <a:endParaRPr lang="en-US"/>
        </a:p>
      </dgm:t>
    </dgm:pt>
    <dgm:pt modelId="{850D2CCC-6B55-48D2-AD1B-DC9B6277FAEF}" type="pres">
      <dgm:prSet presAssocID="{7A595982-E74C-4F6F-BBCB-587D38CF5DDB}" presName="vert0" presStyleCnt="0">
        <dgm:presLayoutVars>
          <dgm:dir/>
          <dgm:animOne val="branch"/>
          <dgm:animLvl val="lvl"/>
        </dgm:presLayoutVars>
      </dgm:prSet>
      <dgm:spPr/>
    </dgm:pt>
    <dgm:pt modelId="{35281EE8-37FD-4FD9-9632-744A72D4EA20}" type="pres">
      <dgm:prSet presAssocID="{DFCCF428-8709-43B1-A52B-182297C51D04}" presName="thickLine" presStyleLbl="alignNode1" presStyleIdx="0" presStyleCnt="6"/>
      <dgm:spPr/>
    </dgm:pt>
    <dgm:pt modelId="{45FE3436-AB02-490A-89FB-0B4651EB8A48}" type="pres">
      <dgm:prSet presAssocID="{DFCCF428-8709-43B1-A52B-182297C51D04}" presName="horz1" presStyleCnt="0"/>
      <dgm:spPr/>
    </dgm:pt>
    <dgm:pt modelId="{4A6404CC-0EFA-455A-8551-8560D76C8360}" type="pres">
      <dgm:prSet presAssocID="{DFCCF428-8709-43B1-A52B-182297C51D04}" presName="tx1" presStyleLbl="revTx" presStyleIdx="0" presStyleCnt="6"/>
      <dgm:spPr/>
    </dgm:pt>
    <dgm:pt modelId="{C54AE109-B4F5-4B4E-B676-D8F852327E1E}" type="pres">
      <dgm:prSet presAssocID="{DFCCF428-8709-43B1-A52B-182297C51D04}" presName="vert1" presStyleCnt="0"/>
      <dgm:spPr/>
    </dgm:pt>
    <dgm:pt modelId="{38AACC19-DF9B-4140-B106-23DE39DDE48F}" type="pres">
      <dgm:prSet presAssocID="{BAC26CF6-D901-45EE-9C09-050CD1C227AF}" presName="thickLine" presStyleLbl="alignNode1" presStyleIdx="1" presStyleCnt="6"/>
      <dgm:spPr/>
    </dgm:pt>
    <dgm:pt modelId="{2D984BE7-6BB5-4CF0-BF04-3347C51B2FE7}" type="pres">
      <dgm:prSet presAssocID="{BAC26CF6-D901-45EE-9C09-050CD1C227AF}" presName="horz1" presStyleCnt="0"/>
      <dgm:spPr/>
    </dgm:pt>
    <dgm:pt modelId="{8B0B5365-5290-48B4-BA21-30C8334F560B}" type="pres">
      <dgm:prSet presAssocID="{BAC26CF6-D901-45EE-9C09-050CD1C227AF}" presName="tx1" presStyleLbl="revTx" presStyleIdx="1" presStyleCnt="6"/>
      <dgm:spPr/>
    </dgm:pt>
    <dgm:pt modelId="{5352DA50-31BB-4FF1-A859-D6F549C63590}" type="pres">
      <dgm:prSet presAssocID="{BAC26CF6-D901-45EE-9C09-050CD1C227AF}" presName="vert1" presStyleCnt="0"/>
      <dgm:spPr/>
    </dgm:pt>
    <dgm:pt modelId="{22C44A2D-D831-4D5F-9EDA-1B4A8F8B178C}" type="pres">
      <dgm:prSet presAssocID="{C234E295-E7D8-434A-B4FB-8012CCA80C43}" presName="thickLine" presStyleLbl="alignNode1" presStyleIdx="2" presStyleCnt="6"/>
      <dgm:spPr/>
    </dgm:pt>
    <dgm:pt modelId="{DE00BCD5-1071-45D7-B5CD-EEB97787DECA}" type="pres">
      <dgm:prSet presAssocID="{C234E295-E7D8-434A-B4FB-8012CCA80C43}" presName="horz1" presStyleCnt="0"/>
      <dgm:spPr/>
    </dgm:pt>
    <dgm:pt modelId="{43E8027D-3CD8-4E48-AB21-17B64E24EE51}" type="pres">
      <dgm:prSet presAssocID="{C234E295-E7D8-434A-B4FB-8012CCA80C43}" presName="tx1" presStyleLbl="revTx" presStyleIdx="2" presStyleCnt="6"/>
      <dgm:spPr/>
    </dgm:pt>
    <dgm:pt modelId="{AB165103-BB0C-43EA-8EB0-8394D4B9FEE8}" type="pres">
      <dgm:prSet presAssocID="{C234E295-E7D8-434A-B4FB-8012CCA80C43}" presName="vert1" presStyleCnt="0"/>
      <dgm:spPr/>
    </dgm:pt>
    <dgm:pt modelId="{F7C5F1EB-4A9C-40E9-A947-3AD8A032C6E1}" type="pres">
      <dgm:prSet presAssocID="{B1DBCAFC-65ED-47F8-89E8-D461E18806A3}" presName="thickLine" presStyleLbl="alignNode1" presStyleIdx="3" presStyleCnt="6"/>
      <dgm:spPr/>
    </dgm:pt>
    <dgm:pt modelId="{748D132C-2110-4AFA-B9FD-1701F787F6A0}" type="pres">
      <dgm:prSet presAssocID="{B1DBCAFC-65ED-47F8-89E8-D461E18806A3}" presName="horz1" presStyleCnt="0"/>
      <dgm:spPr/>
    </dgm:pt>
    <dgm:pt modelId="{19E31CE8-CBE8-436C-BFF3-C1BE0260A4A9}" type="pres">
      <dgm:prSet presAssocID="{B1DBCAFC-65ED-47F8-89E8-D461E18806A3}" presName="tx1" presStyleLbl="revTx" presStyleIdx="3" presStyleCnt="6"/>
      <dgm:spPr/>
    </dgm:pt>
    <dgm:pt modelId="{91C1B64E-3BAF-40AC-ACB7-49F4EF6965D2}" type="pres">
      <dgm:prSet presAssocID="{B1DBCAFC-65ED-47F8-89E8-D461E18806A3}" presName="vert1" presStyleCnt="0"/>
      <dgm:spPr/>
    </dgm:pt>
    <dgm:pt modelId="{0041B529-5A21-4F92-AAB2-941A8DE3804F}" type="pres">
      <dgm:prSet presAssocID="{292799B2-FE28-4D50-8BA7-01B85FF4C8A2}" presName="thickLine" presStyleLbl="alignNode1" presStyleIdx="4" presStyleCnt="6"/>
      <dgm:spPr/>
    </dgm:pt>
    <dgm:pt modelId="{CF2409E0-C445-470A-B2D0-193105565749}" type="pres">
      <dgm:prSet presAssocID="{292799B2-FE28-4D50-8BA7-01B85FF4C8A2}" presName="horz1" presStyleCnt="0"/>
      <dgm:spPr/>
    </dgm:pt>
    <dgm:pt modelId="{2190DB50-F798-4E99-BA8A-5EDDD08AEB9F}" type="pres">
      <dgm:prSet presAssocID="{292799B2-FE28-4D50-8BA7-01B85FF4C8A2}" presName="tx1" presStyleLbl="revTx" presStyleIdx="4" presStyleCnt="6"/>
      <dgm:spPr/>
    </dgm:pt>
    <dgm:pt modelId="{F6817D5B-342B-4330-9A3D-EC879E37565F}" type="pres">
      <dgm:prSet presAssocID="{292799B2-FE28-4D50-8BA7-01B85FF4C8A2}" presName="vert1" presStyleCnt="0"/>
      <dgm:spPr/>
    </dgm:pt>
    <dgm:pt modelId="{6E7C993F-8805-433A-B42A-8E888236B23D}" type="pres">
      <dgm:prSet presAssocID="{B640CE2A-DFC9-4321-9BA0-499CB1419A52}" presName="thickLine" presStyleLbl="alignNode1" presStyleIdx="5" presStyleCnt="6"/>
      <dgm:spPr/>
    </dgm:pt>
    <dgm:pt modelId="{6AEC9F0E-CA6C-4CA1-970E-7873B90008F7}" type="pres">
      <dgm:prSet presAssocID="{B640CE2A-DFC9-4321-9BA0-499CB1419A52}" presName="horz1" presStyleCnt="0"/>
      <dgm:spPr/>
    </dgm:pt>
    <dgm:pt modelId="{3D139B1B-FC4C-403E-825D-4D8EF24FE8B9}" type="pres">
      <dgm:prSet presAssocID="{B640CE2A-DFC9-4321-9BA0-499CB1419A52}" presName="tx1" presStyleLbl="revTx" presStyleIdx="5" presStyleCnt="6"/>
      <dgm:spPr/>
    </dgm:pt>
    <dgm:pt modelId="{3DD3DBA7-598E-4BAA-9C84-98EFEA901172}" type="pres">
      <dgm:prSet presAssocID="{B640CE2A-DFC9-4321-9BA0-499CB1419A52}" presName="vert1" presStyleCnt="0"/>
      <dgm:spPr/>
    </dgm:pt>
  </dgm:ptLst>
  <dgm:cxnLst>
    <dgm:cxn modelId="{62429820-9294-406C-A4BF-DC6F24F18DDA}" type="presOf" srcId="{7A595982-E74C-4F6F-BBCB-587D38CF5DDB}" destId="{850D2CCC-6B55-48D2-AD1B-DC9B6277FAEF}" srcOrd="0" destOrd="0" presId="urn:microsoft.com/office/officeart/2008/layout/LinedList"/>
    <dgm:cxn modelId="{DD148725-98DE-45C8-96B8-D53F5B6FAD7F}" type="presOf" srcId="{DFCCF428-8709-43B1-A52B-182297C51D04}" destId="{4A6404CC-0EFA-455A-8551-8560D76C8360}" srcOrd="0" destOrd="0" presId="urn:microsoft.com/office/officeart/2008/layout/LinedList"/>
    <dgm:cxn modelId="{E6011928-F5EA-4294-A51B-20FA1E493E20}" srcId="{7A595982-E74C-4F6F-BBCB-587D38CF5DDB}" destId="{DFCCF428-8709-43B1-A52B-182297C51D04}" srcOrd="0" destOrd="0" parTransId="{803593D9-97F1-48D5-A68B-BEC6FF93B45A}" sibTransId="{FBEA304F-6ABC-401A-A031-1DF5D333B834}"/>
    <dgm:cxn modelId="{83BE5160-0627-487C-A1C6-96FA3E0D356A}" type="presOf" srcId="{BAC26CF6-D901-45EE-9C09-050CD1C227AF}" destId="{8B0B5365-5290-48B4-BA21-30C8334F560B}" srcOrd="0" destOrd="0" presId="urn:microsoft.com/office/officeart/2008/layout/LinedList"/>
    <dgm:cxn modelId="{B95C354D-7A8A-4E7A-94A6-95899DFF9FA0}" srcId="{7A595982-E74C-4F6F-BBCB-587D38CF5DDB}" destId="{292799B2-FE28-4D50-8BA7-01B85FF4C8A2}" srcOrd="4" destOrd="0" parTransId="{3B52A823-E56D-4EFC-B870-70351CD6CA49}" sibTransId="{A5425DC2-FB09-4893-8A6A-E09389D62E76}"/>
    <dgm:cxn modelId="{394B996E-1D9F-4A8B-860C-405A7E622467}" srcId="{7A595982-E74C-4F6F-BBCB-587D38CF5DDB}" destId="{C234E295-E7D8-434A-B4FB-8012CCA80C43}" srcOrd="2" destOrd="0" parTransId="{E6B99D3D-E9BF-4B9B-957A-BA0F555DC8D3}" sibTransId="{0634428A-11B3-4BB0-BA27-B824F43EC6B0}"/>
    <dgm:cxn modelId="{C762D57E-F92F-42E4-B7DC-FBCEED24A44D}" type="presOf" srcId="{292799B2-FE28-4D50-8BA7-01B85FF4C8A2}" destId="{2190DB50-F798-4E99-BA8A-5EDDD08AEB9F}" srcOrd="0" destOrd="0" presId="urn:microsoft.com/office/officeart/2008/layout/LinedList"/>
    <dgm:cxn modelId="{ECA1048B-C16C-4CDD-A681-981B23538396}" srcId="{7A595982-E74C-4F6F-BBCB-587D38CF5DDB}" destId="{BAC26CF6-D901-45EE-9C09-050CD1C227AF}" srcOrd="1" destOrd="0" parTransId="{2BB9D6BA-F856-4912-8150-DAAF685A7DB8}" sibTransId="{1FAED0F1-F961-4BEA-8A09-F98E2CBEC634}"/>
    <dgm:cxn modelId="{A05698AD-F999-4FF0-9A9E-651F9BFD32CA}" srcId="{7A595982-E74C-4F6F-BBCB-587D38CF5DDB}" destId="{B640CE2A-DFC9-4321-9BA0-499CB1419A52}" srcOrd="5" destOrd="0" parTransId="{CCCFFB56-B1C2-4552-B5F0-6FE5C6D30FF5}" sibTransId="{41EEC443-376B-41A9-B914-EBFA3A976BE0}"/>
    <dgm:cxn modelId="{8738DAD3-1FD3-48FC-9530-E0B42F302990}" type="presOf" srcId="{C234E295-E7D8-434A-B4FB-8012CCA80C43}" destId="{43E8027D-3CD8-4E48-AB21-17B64E24EE51}" srcOrd="0" destOrd="0" presId="urn:microsoft.com/office/officeart/2008/layout/LinedList"/>
    <dgm:cxn modelId="{56DB7EE1-BE5D-4041-A013-1CBA044D20E8}" srcId="{7A595982-E74C-4F6F-BBCB-587D38CF5DDB}" destId="{B1DBCAFC-65ED-47F8-89E8-D461E18806A3}" srcOrd="3" destOrd="0" parTransId="{2753A859-7A7E-4C3D-9014-4A88D0523FDE}" sibTransId="{DCBFB8F7-5C19-4D8B-B76B-AF4152937ACF}"/>
    <dgm:cxn modelId="{94F6CBE5-2FCD-4D4C-8F5A-F5BD955F2DA4}" type="presOf" srcId="{B640CE2A-DFC9-4321-9BA0-499CB1419A52}" destId="{3D139B1B-FC4C-403E-825D-4D8EF24FE8B9}" srcOrd="0" destOrd="0" presId="urn:microsoft.com/office/officeart/2008/layout/LinedList"/>
    <dgm:cxn modelId="{9C939DEC-40C8-4B34-B5F3-35B55932860A}" type="presOf" srcId="{B1DBCAFC-65ED-47F8-89E8-D461E18806A3}" destId="{19E31CE8-CBE8-436C-BFF3-C1BE0260A4A9}" srcOrd="0" destOrd="0" presId="urn:microsoft.com/office/officeart/2008/layout/LinedList"/>
    <dgm:cxn modelId="{F8755066-6A9E-404F-ABA0-97AB3942A34B}" type="presParOf" srcId="{850D2CCC-6B55-48D2-AD1B-DC9B6277FAEF}" destId="{35281EE8-37FD-4FD9-9632-744A72D4EA20}" srcOrd="0" destOrd="0" presId="urn:microsoft.com/office/officeart/2008/layout/LinedList"/>
    <dgm:cxn modelId="{8745770C-7438-4EB4-85C9-6D70E5B58320}" type="presParOf" srcId="{850D2CCC-6B55-48D2-AD1B-DC9B6277FAEF}" destId="{45FE3436-AB02-490A-89FB-0B4651EB8A48}" srcOrd="1" destOrd="0" presId="urn:microsoft.com/office/officeart/2008/layout/LinedList"/>
    <dgm:cxn modelId="{1E6DFB26-C947-41EB-B724-0A9CD370BF33}" type="presParOf" srcId="{45FE3436-AB02-490A-89FB-0B4651EB8A48}" destId="{4A6404CC-0EFA-455A-8551-8560D76C8360}" srcOrd="0" destOrd="0" presId="urn:microsoft.com/office/officeart/2008/layout/LinedList"/>
    <dgm:cxn modelId="{071512CF-48C8-4A11-92C9-4619678526E9}" type="presParOf" srcId="{45FE3436-AB02-490A-89FB-0B4651EB8A48}" destId="{C54AE109-B4F5-4B4E-B676-D8F852327E1E}" srcOrd="1" destOrd="0" presId="urn:microsoft.com/office/officeart/2008/layout/LinedList"/>
    <dgm:cxn modelId="{6D0E86B1-6AB5-46F6-B230-EB1CC6DB5B99}" type="presParOf" srcId="{850D2CCC-6B55-48D2-AD1B-DC9B6277FAEF}" destId="{38AACC19-DF9B-4140-B106-23DE39DDE48F}" srcOrd="2" destOrd="0" presId="urn:microsoft.com/office/officeart/2008/layout/LinedList"/>
    <dgm:cxn modelId="{85438878-1BD4-40D6-9592-8ABE52C89415}" type="presParOf" srcId="{850D2CCC-6B55-48D2-AD1B-DC9B6277FAEF}" destId="{2D984BE7-6BB5-4CF0-BF04-3347C51B2FE7}" srcOrd="3" destOrd="0" presId="urn:microsoft.com/office/officeart/2008/layout/LinedList"/>
    <dgm:cxn modelId="{A8A5301D-07F0-4907-9159-BECE6DFEF065}" type="presParOf" srcId="{2D984BE7-6BB5-4CF0-BF04-3347C51B2FE7}" destId="{8B0B5365-5290-48B4-BA21-30C8334F560B}" srcOrd="0" destOrd="0" presId="urn:microsoft.com/office/officeart/2008/layout/LinedList"/>
    <dgm:cxn modelId="{4A93EAFE-1C31-42CA-81EE-0681A4061F88}" type="presParOf" srcId="{2D984BE7-6BB5-4CF0-BF04-3347C51B2FE7}" destId="{5352DA50-31BB-4FF1-A859-D6F549C63590}" srcOrd="1" destOrd="0" presId="urn:microsoft.com/office/officeart/2008/layout/LinedList"/>
    <dgm:cxn modelId="{492A3DEE-24F5-428E-A533-52714A60C94D}" type="presParOf" srcId="{850D2CCC-6B55-48D2-AD1B-DC9B6277FAEF}" destId="{22C44A2D-D831-4D5F-9EDA-1B4A8F8B178C}" srcOrd="4" destOrd="0" presId="urn:microsoft.com/office/officeart/2008/layout/LinedList"/>
    <dgm:cxn modelId="{3646DD33-13C5-4100-A24C-5EB98818E533}" type="presParOf" srcId="{850D2CCC-6B55-48D2-AD1B-DC9B6277FAEF}" destId="{DE00BCD5-1071-45D7-B5CD-EEB97787DECA}" srcOrd="5" destOrd="0" presId="urn:microsoft.com/office/officeart/2008/layout/LinedList"/>
    <dgm:cxn modelId="{077B69CE-C93C-429B-AD96-E6CD63439A7F}" type="presParOf" srcId="{DE00BCD5-1071-45D7-B5CD-EEB97787DECA}" destId="{43E8027D-3CD8-4E48-AB21-17B64E24EE51}" srcOrd="0" destOrd="0" presId="urn:microsoft.com/office/officeart/2008/layout/LinedList"/>
    <dgm:cxn modelId="{FE62235A-7849-4832-8B28-CFC93A9EFCCF}" type="presParOf" srcId="{DE00BCD5-1071-45D7-B5CD-EEB97787DECA}" destId="{AB165103-BB0C-43EA-8EB0-8394D4B9FEE8}" srcOrd="1" destOrd="0" presId="urn:microsoft.com/office/officeart/2008/layout/LinedList"/>
    <dgm:cxn modelId="{2FAD968F-22F4-4009-8ABF-920F91CB09CA}" type="presParOf" srcId="{850D2CCC-6B55-48D2-AD1B-DC9B6277FAEF}" destId="{F7C5F1EB-4A9C-40E9-A947-3AD8A032C6E1}" srcOrd="6" destOrd="0" presId="urn:microsoft.com/office/officeart/2008/layout/LinedList"/>
    <dgm:cxn modelId="{0F684BA2-0023-4A6A-8227-272F45178D4B}" type="presParOf" srcId="{850D2CCC-6B55-48D2-AD1B-DC9B6277FAEF}" destId="{748D132C-2110-4AFA-B9FD-1701F787F6A0}" srcOrd="7" destOrd="0" presId="urn:microsoft.com/office/officeart/2008/layout/LinedList"/>
    <dgm:cxn modelId="{AA0A2B77-F76D-48ED-8AE9-5554052CC47B}" type="presParOf" srcId="{748D132C-2110-4AFA-B9FD-1701F787F6A0}" destId="{19E31CE8-CBE8-436C-BFF3-C1BE0260A4A9}" srcOrd="0" destOrd="0" presId="urn:microsoft.com/office/officeart/2008/layout/LinedList"/>
    <dgm:cxn modelId="{F6A435B8-75BA-4A8C-A459-E6CCACD9E84E}" type="presParOf" srcId="{748D132C-2110-4AFA-B9FD-1701F787F6A0}" destId="{91C1B64E-3BAF-40AC-ACB7-49F4EF6965D2}" srcOrd="1" destOrd="0" presId="urn:microsoft.com/office/officeart/2008/layout/LinedList"/>
    <dgm:cxn modelId="{25F87690-04FE-4CDA-80B8-4BCECDA106D6}" type="presParOf" srcId="{850D2CCC-6B55-48D2-AD1B-DC9B6277FAEF}" destId="{0041B529-5A21-4F92-AAB2-941A8DE3804F}" srcOrd="8" destOrd="0" presId="urn:microsoft.com/office/officeart/2008/layout/LinedList"/>
    <dgm:cxn modelId="{E84F6908-F41F-4F5F-9CC3-8680CACC4569}" type="presParOf" srcId="{850D2CCC-6B55-48D2-AD1B-DC9B6277FAEF}" destId="{CF2409E0-C445-470A-B2D0-193105565749}" srcOrd="9" destOrd="0" presId="urn:microsoft.com/office/officeart/2008/layout/LinedList"/>
    <dgm:cxn modelId="{D9986AA2-E65E-4130-9CC2-5E4549E535AC}" type="presParOf" srcId="{CF2409E0-C445-470A-B2D0-193105565749}" destId="{2190DB50-F798-4E99-BA8A-5EDDD08AEB9F}" srcOrd="0" destOrd="0" presId="urn:microsoft.com/office/officeart/2008/layout/LinedList"/>
    <dgm:cxn modelId="{D1EA9EA6-CB3C-456D-A82F-A060649B4658}" type="presParOf" srcId="{CF2409E0-C445-470A-B2D0-193105565749}" destId="{F6817D5B-342B-4330-9A3D-EC879E37565F}" srcOrd="1" destOrd="0" presId="urn:microsoft.com/office/officeart/2008/layout/LinedList"/>
    <dgm:cxn modelId="{51FE2565-18FE-4358-944A-AFB05B4C7E55}" type="presParOf" srcId="{850D2CCC-6B55-48D2-AD1B-DC9B6277FAEF}" destId="{6E7C993F-8805-433A-B42A-8E888236B23D}" srcOrd="10" destOrd="0" presId="urn:microsoft.com/office/officeart/2008/layout/LinedList"/>
    <dgm:cxn modelId="{9787BA83-4B58-4568-99A2-E60E5EBFB97D}" type="presParOf" srcId="{850D2CCC-6B55-48D2-AD1B-DC9B6277FAEF}" destId="{6AEC9F0E-CA6C-4CA1-970E-7873B90008F7}" srcOrd="11" destOrd="0" presId="urn:microsoft.com/office/officeart/2008/layout/LinedList"/>
    <dgm:cxn modelId="{EFBF2CDD-E1F7-4342-B114-0E450F2538EC}" type="presParOf" srcId="{6AEC9F0E-CA6C-4CA1-970E-7873B90008F7}" destId="{3D139B1B-FC4C-403E-825D-4D8EF24FE8B9}" srcOrd="0" destOrd="0" presId="urn:microsoft.com/office/officeart/2008/layout/LinedList"/>
    <dgm:cxn modelId="{A593483E-D9EB-40B6-8DF1-24944F13E284}" type="presParOf" srcId="{6AEC9F0E-CA6C-4CA1-970E-7873B90008F7}" destId="{3DD3DBA7-598E-4BAA-9C84-98EFEA9011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81EE8-37FD-4FD9-9632-744A72D4EA20}">
      <dsp:nvSpPr>
        <dsp:cNvPr id="0" name=""/>
        <dsp:cNvSpPr/>
      </dsp:nvSpPr>
      <dsp:spPr>
        <a:xfrm>
          <a:off x="0" y="183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404CC-0EFA-455A-8551-8560D76C8360}">
      <dsp:nvSpPr>
        <dsp:cNvPr id="0" name=""/>
        <dsp:cNvSpPr/>
      </dsp:nvSpPr>
      <dsp:spPr>
        <a:xfrm>
          <a:off x="0" y="1839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1. Introduction</a:t>
          </a:r>
          <a:endParaRPr lang="en-US" sz="2900" kern="1200" dirty="0"/>
        </a:p>
      </dsp:txBody>
      <dsp:txXfrm>
        <a:off x="0" y="1839"/>
        <a:ext cx="11155680" cy="627274"/>
      </dsp:txXfrm>
    </dsp:sp>
    <dsp:sp modelId="{38AACC19-DF9B-4140-B106-23DE39DDE48F}">
      <dsp:nvSpPr>
        <dsp:cNvPr id="0" name=""/>
        <dsp:cNvSpPr/>
      </dsp:nvSpPr>
      <dsp:spPr>
        <a:xfrm>
          <a:off x="0" y="62911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B5365-5290-48B4-BA21-30C8334F560B}">
      <dsp:nvSpPr>
        <dsp:cNvPr id="0" name=""/>
        <dsp:cNvSpPr/>
      </dsp:nvSpPr>
      <dsp:spPr>
        <a:xfrm>
          <a:off x="0" y="629114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2. Literature Review Highlights</a:t>
          </a:r>
          <a:endParaRPr lang="en-US" sz="2900" kern="1200"/>
        </a:p>
      </dsp:txBody>
      <dsp:txXfrm>
        <a:off x="0" y="629114"/>
        <a:ext cx="11155680" cy="627274"/>
      </dsp:txXfrm>
    </dsp:sp>
    <dsp:sp modelId="{22C44A2D-D831-4D5F-9EDA-1B4A8F8B178C}">
      <dsp:nvSpPr>
        <dsp:cNvPr id="0" name=""/>
        <dsp:cNvSpPr/>
      </dsp:nvSpPr>
      <dsp:spPr>
        <a:xfrm>
          <a:off x="0" y="1256389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8027D-3CD8-4E48-AB21-17B64E24EE51}">
      <dsp:nvSpPr>
        <dsp:cNvPr id="0" name=""/>
        <dsp:cNvSpPr/>
      </dsp:nvSpPr>
      <dsp:spPr>
        <a:xfrm>
          <a:off x="0" y="1256389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3. Methodologies &amp; Software Demonstration</a:t>
          </a:r>
          <a:endParaRPr lang="en-US" sz="2900" kern="1200"/>
        </a:p>
      </dsp:txBody>
      <dsp:txXfrm>
        <a:off x="0" y="1256389"/>
        <a:ext cx="11155680" cy="627274"/>
      </dsp:txXfrm>
    </dsp:sp>
    <dsp:sp modelId="{F7C5F1EB-4A9C-40E9-A947-3AD8A032C6E1}">
      <dsp:nvSpPr>
        <dsp:cNvPr id="0" name=""/>
        <dsp:cNvSpPr/>
      </dsp:nvSpPr>
      <dsp:spPr>
        <a:xfrm>
          <a:off x="0" y="1883664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31CE8-CBE8-436C-BFF3-C1BE0260A4A9}">
      <dsp:nvSpPr>
        <dsp:cNvPr id="0" name=""/>
        <dsp:cNvSpPr/>
      </dsp:nvSpPr>
      <dsp:spPr>
        <a:xfrm>
          <a:off x="0" y="1883664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4. Results &amp; Analysis</a:t>
          </a:r>
          <a:endParaRPr lang="en-US" sz="2900" kern="1200"/>
        </a:p>
      </dsp:txBody>
      <dsp:txXfrm>
        <a:off x="0" y="1883664"/>
        <a:ext cx="11155680" cy="627274"/>
      </dsp:txXfrm>
    </dsp:sp>
    <dsp:sp modelId="{0041B529-5A21-4F92-AAB2-941A8DE3804F}">
      <dsp:nvSpPr>
        <dsp:cNvPr id="0" name=""/>
        <dsp:cNvSpPr/>
      </dsp:nvSpPr>
      <dsp:spPr>
        <a:xfrm>
          <a:off x="0" y="2510938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0DB50-F798-4E99-BA8A-5EDDD08AEB9F}">
      <dsp:nvSpPr>
        <dsp:cNvPr id="0" name=""/>
        <dsp:cNvSpPr/>
      </dsp:nvSpPr>
      <dsp:spPr>
        <a:xfrm>
          <a:off x="0" y="2510938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5. Conclusions &amp; Future Work</a:t>
          </a:r>
          <a:endParaRPr lang="en-US" sz="2900" kern="1200"/>
        </a:p>
      </dsp:txBody>
      <dsp:txXfrm>
        <a:off x="0" y="2510938"/>
        <a:ext cx="11155680" cy="627274"/>
      </dsp:txXfrm>
    </dsp:sp>
    <dsp:sp modelId="{6E7C993F-8805-433A-B42A-8E888236B23D}">
      <dsp:nvSpPr>
        <dsp:cNvPr id="0" name=""/>
        <dsp:cNvSpPr/>
      </dsp:nvSpPr>
      <dsp:spPr>
        <a:xfrm>
          <a:off x="0" y="3138213"/>
          <a:ext cx="11155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39B1B-FC4C-403E-825D-4D8EF24FE8B9}">
      <dsp:nvSpPr>
        <dsp:cNvPr id="0" name=""/>
        <dsp:cNvSpPr/>
      </dsp:nvSpPr>
      <dsp:spPr>
        <a:xfrm>
          <a:off x="0" y="3138213"/>
          <a:ext cx="11155680" cy="627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6. Q&amp;A</a:t>
          </a:r>
          <a:endParaRPr lang="en-US" sz="2900" kern="1200" dirty="0"/>
        </a:p>
      </dsp:txBody>
      <dsp:txXfrm>
        <a:off x="0" y="3138213"/>
        <a:ext cx="11155680" cy="627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90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8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4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7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2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1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9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96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9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4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0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F1E60-E2BA-4166-742F-C357275941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394" b="13378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51058-935B-2B24-A533-0994E4365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FFFFFF"/>
                </a:solidFill>
              </a:rPr>
              <a:t>Detecting Self-Admitted Security Debt in Projects using 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2AFEB-2679-734B-6941-561D8AC7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900" dirty="0">
                <a:solidFill>
                  <a:srgbClr val="FFFFFF"/>
                </a:solidFill>
              </a:rPr>
              <a:t>Blake Harris</a:t>
            </a:r>
          </a:p>
          <a:p>
            <a:pPr>
              <a:lnSpc>
                <a:spcPct val="100000"/>
              </a:lnSpc>
            </a:pPr>
            <a:r>
              <a:rPr lang="en-GB" sz="1900" dirty="0">
                <a:solidFill>
                  <a:srgbClr val="FFFFFF"/>
                </a:solidFill>
              </a:rPr>
              <a:t>School of Electronics, Electrical Engineering, and Computer Science, Queen’s University Belfast, UK</a:t>
            </a:r>
          </a:p>
          <a:p>
            <a:pPr>
              <a:lnSpc>
                <a:spcPct val="100000"/>
              </a:lnSpc>
            </a:pPr>
            <a:r>
              <a:rPr lang="en-GB" sz="1900" dirty="0">
                <a:solidFill>
                  <a:srgbClr val="FFFFFF"/>
                </a:solidFill>
              </a:rPr>
              <a:t>Tuesday 6</a:t>
            </a:r>
            <a:r>
              <a:rPr lang="en-GB" sz="1900" baseline="30000" dirty="0">
                <a:solidFill>
                  <a:srgbClr val="FFFFFF"/>
                </a:solidFill>
              </a:rPr>
              <a:t>th</a:t>
            </a:r>
            <a:r>
              <a:rPr lang="en-GB" sz="1900" dirty="0">
                <a:solidFill>
                  <a:srgbClr val="FFFFFF"/>
                </a:solidFill>
              </a:rPr>
              <a:t>  May 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19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57C1-7FFF-96CC-BFC1-C8396AEA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A6CDED-06CD-E44A-458D-3AFC9C00A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186926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497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33A6-7F3C-2337-FA90-26250067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BB2DA-6627-8030-D216-00016CCF8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GB" b="1" dirty="0"/>
              <a:t>Proactive Security Management</a:t>
            </a:r>
            <a:r>
              <a:rPr lang="en-GB" dirty="0"/>
              <a:t>: Undetected Security Debt in code can lead to critical vulnerabilities.</a:t>
            </a:r>
          </a:p>
          <a:p>
            <a:pPr lvl="1"/>
            <a:r>
              <a:rPr lang="en-GB" b="1" dirty="0"/>
              <a:t>Developer Insights as Signals</a:t>
            </a:r>
            <a:r>
              <a:rPr lang="en-GB" dirty="0"/>
              <a:t>: Notes in code comments, commits, and issue trackers – self-admitted debt – reveal deferred security work.</a:t>
            </a:r>
          </a:p>
          <a:p>
            <a:pPr lvl="1"/>
            <a:r>
              <a:rPr lang="en-GB" b="1" dirty="0"/>
              <a:t>Automation Gap</a:t>
            </a:r>
            <a:r>
              <a:rPr lang="en-GB" dirty="0"/>
              <a:t>: No E2E tools to detect and categorize Security Debt at scale.</a:t>
            </a:r>
          </a:p>
        </p:txBody>
      </p:sp>
    </p:spTree>
    <p:extLst>
      <p:ext uri="{BB962C8B-B14F-4D97-AF65-F5344CB8AC3E}">
        <p14:creationId xmlns:p14="http://schemas.microsoft.com/office/powerpoint/2010/main" val="228175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47ADB-17E4-426B-B726-962D0896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D60D-5759-6445-CA39-18D6DBFD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01704-66A5-9FC5-6FBC-FB9C24B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  <a:p>
            <a:pPr lvl="1" algn="just"/>
            <a:r>
              <a:rPr lang="en-GB" b="1" dirty="0"/>
              <a:t>Unstructured Artifacts</a:t>
            </a:r>
            <a:r>
              <a:rPr lang="en-GB" dirty="0"/>
              <a:t>: Code comments, commits, and issues are free-text.</a:t>
            </a:r>
          </a:p>
          <a:p>
            <a:pPr lvl="1" algn="just"/>
            <a:r>
              <a:rPr lang="en-GB" b="1" dirty="0"/>
              <a:t>Gaps in Tools</a:t>
            </a:r>
            <a:r>
              <a:rPr lang="en-GB" dirty="0"/>
              <a:t>: Existing Technical Debt detectors (SonarQube, Jira) ignore security nuances.</a:t>
            </a:r>
          </a:p>
          <a:p>
            <a:pPr lvl="1" algn="just"/>
            <a:r>
              <a:rPr lang="en-GB" b="1" dirty="0"/>
              <a:t>Poses Risks</a:t>
            </a:r>
            <a:r>
              <a:rPr lang="en-GB" dirty="0"/>
              <a:t>: Undetected SASD leaves code vulnerable to attack.</a:t>
            </a:r>
          </a:p>
        </p:txBody>
      </p:sp>
    </p:spTree>
    <p:extLst>
      <p:ext uri="{BB962C8B-B14F-4D97-AF65-F5344CB8AC3E}">
        <p14:creationId xmlns:p14="http://schemas.microsoft.com/office/powerpoint/2010/main" val="386564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DB39-C604-8AF9-C7C2-5C46B34B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36C9-174B-E4D8-F9E3-E14F33A30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  <a:p>
            <a:pPr lvl="1" algn="just"/>
            <a:r>
              <a:rPr lang="en-GB" b="1" dirty="0"/>
              <a:t>No Automated SASD Pipeline</a:t>
            </a:r>
            <a:r>
              <a:rPr lang="en-GB" dirty="0"/>
              <a:t>: No tool systematically detects and categorises Self-Admitted Security Debt.</a:t>
            </a:r>
          </a:p>
          <a:p>
            <a:pPr lvl="1" algn="just"/>
            <a:r>
              <a:rPr lang="en-GB" b="1" dirty="0"/>
              <a:t>Unstructured Data Challenge</a:t>
            </a:r>
            <a:r>
              <a:rPr lang="en-GB" dirty="0"/>
              <a:t>: Free-form comments, commits, and issues are difficult to parse at scale.</a:t>
            </a:r>
          </a:p>
          <a:p>
            <a:pPr lvl="1" algn="just"/>
            <a:r>
              <a:rPr lang="en-GB" b="1" dirty="0"/>
              <a:t>Missing CWE Mapping</a:t>
            </a:r>
            <a:r>
              <a:rPr lang="en-GB" dirty="0"/>
              <a:t>: Without linking to recognisable vulnerability frameworks, teams can’t effectively or efficiently prioritise remediation efforts.</a:t>
            </a:r>
          </a:p>
        </p:txBody>
      </p:sp>
    </p:spTree>
    <p:extLst>
      <p:ext uri="{BB962C8B-B14F-4D97-AF65-F5344CB8AC3E}">
        <p14:creationId xmlns:p14="http://schemas.microsoft.com/office/powerpoint/2010/main" val="224237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E3C5-D822-042B-FB04-806D0149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BF462-97A5-DDC1-29E7-0E35B9B07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  <a:p>
            <a:pPr lvl="1" algn="just"/>
            <a:r>
              <a:rPr lang="en-GB" dirty="0"/>
              <a:t>Determine the feasibility of an NLP-based tool to detect SASD.</a:t>
            </a:r>
          </a:p>
          <a:p>
            <a:pPr lvl="1" algn="just"/>
            <a:r>
              <a:rPr lang="en-GB" dirty="0"/>
              <a:t>Automate analysis of code comments, commit messages, and issue tracker entries.</a:t>
            </a:r>
          </a:p>
          <a:p>
            <a:pPr lvl="1" algn="just"/>
            <a:r>
              <a:rPr lang="en-GB" dirty="0"/>
              <a:t>Map detected SASD to CWE categories for risk prioritisation.</a:t>
            </a:r>
          </a:p>
        </p:txBody>
      </p:sp>
    </p:spTree>
    <p:extLst>
      <p:ext uri="{BB962C8B-B14F-4D97-AF65-F5344CB8AC3E}">
        <p14:creationId xmlns:p14="http://schemas.microsoft.com/office/powerpoint/2010/main" val="352415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7A67-AD9A-5467-7D7F-9BA54DC6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62403-E296-14FB-AFC5-0129D904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Research Question 1 (RQ1)</a:t>
            </a:r>
          </a:p>
          <a:p>
            <a:pPr lvl="1"/>
            <a:r>
              <a:rPr lang="en-GB" b="1" dirty="0"/>
              <a:t>Approach</a:t>
            </a:r>
            <a:r>
              <a:rPr lang="en-GB" dirty="0"/>
              <a:t>: Compare GPT-3.5-Turbo to keyword baseline.</a:t>
            </a:r>
          </a:p>
          <a:p>
            <a:pPr lvl="1"/>
            <a:r>
              <a:rPr lang="en-GB" b="1" dirty="0"/>
              <a:t>Dataset</a:t>
            </a:r>
            <a:r>
              <a:rPr lang="en-GB" dirty="0"/>
              <a:t>: Stratified sample with Synthetic SASD Augmentations.</a:t>
            </a:r>
          </a:p>
          <a:p>
            <a:pPr lvl="1"/>
            <a:r>
              <a:rPr lang="en-GB" b="1" dirty="0"/>
              <a:t>Metrics</a:t>
            </a:r>
            <a:r>
              <a:rPr lang="en-GB" dirty="0"/>
              <a:t>: Recall &amp; F1-score over 10 runs with manual verification.</a:t>
            </a:r>
          </a:p>
          <a:p>
            <a:r>
              <a:rPr lang="en-GB" dirty="0"/>
              <a:t>Research Question 2 (RQ2)</a:t>
            </a:r>
          </a:p>
          <a:p>
            <a:pPr lvl="1"/>
            <a:r>
              <a:rPr lang="en-GB" b="1" dirty="0"/>
              <a:t>Approach</a:t>
            </a:r>
            <a:r>
              <a:rPr lang="en-GB" dirty="0"/>
              <a:t>: Compare GPT-3.5-Turbo’s predicted CWE mappings to keyword-based mapping.</a:t>
            </a:r>
          </a:p>
          <a:p>
            <a:pPr lvl="1"/>
            <a:r>
              <a:rPr lang="en-GB" b="1" dirty="0"/>
              <a:t>Procedure</a:t>
            </a:r>
            <a:r>
              <a:rPr lang="en-GB" dirty="0"/>
              <a:t>: </a:t>
            </a:r>
          </a:p>
          <a:p>
            <a:pPr lvl="2"/>
            <a:r>
              <a:rPr lang="en-GB" dirty="0"/>
              <a:t>1. Extract model’s CWE assignments for all detected SASD.</a:t>
            </a:r>
          </a:p>
          <a:p>
            <a:pPr lvl="2"/>
            <a:r>
              <a:rPr lang="en-GB" dirty="0"/>
              <a:t>2. Manually verify a sample of true SASD and their correct CWEs.</a:t>
            </a:r>
          </a:p>
          <a:p>
            <a:pPr lvl="1"/>
            <a:r>
              <a:rPr lang="en-GB" b="1" dirty="0"/>
              <a:t>Metric</a:t>
            </a:r>
            <a:r>
              <a:rPr lang="en-GB" dirty="0"/>
              <a:t>: CWE Mapping Accuracy = (Correct Assignments / Total Mapping) * 100	(Target &gt;= 75% Accuracy)</a:t>
            </a:r>
          </a:p>
        </p:txBody>
      </p:sp>
    </p:spTree>
    <p:extLst>
      <p:ext uri="{BB962C8B-B14F-4D97-AF65-F5344CB8AC3E}">
        <p14:creationId xmlns:p14="http://schemas.microsoft.com/office/powerpoint/2010/main" val="282616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BF09-7AD5-7DB5-0A34-1FD0C652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 (Condensed)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B6BDC-E5A7-B1FC-2CC0-7CB4F299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Concepts</a:t>
            </a:r>
          </a:p>
          <a:p>
            <a:pPr lvl="1" algn="just"/>
            <a:r>
              <a:rPr lang="en-GB" b="1" dirty="0"/>
              <a:t>Technical Debt</a:t>
            </a:r>
            <a:r>
              <a:rPr lang="en-GB" dirty="0"/>
              <a:t>: Suboptimal design/implementation choices made to expedite delivery that accrue interest over time [1].</a:t>
            </a:r>
          </a:p>
          <a:p>
            <a:pPr lvl="1" algn="just"/>
            <a:r>
              <a:rPr lang="en-GB" b="1" dirty="0"/>
              <a:t>Security Debt</a:t>
            </a:r>
            <a:r>
              <a:rPr lang="en-GB" dirty="0"/>
              <a:t>: A subcategory of Technical Debt where security-related work is deferred, creating latent vulnerabilities [1].</a:t>
            </a:r>
          </a:p>
          <a:p>
            <a:pPr lvl="1" algn="just"/>
            <a:r>
              <a:rPr lang="en-GB" b="1" dirty="0"/>
              <a:t>Self-Admitted Technical Debt (SATD): </a:t>
            </a:r>
            <a:r>
              <a:rPr lang="en-GB" dirty="0"/>
              <a:t>Developer-acknowledged shortcuts or design flaws in artifacts [2].</a:t>
            </a:r>
          </a:p>
          <a:p>
            <a:pPr lvl="2" algn="just"/>
            <a:r>
              <a:rPr lang="en-GB" dirty="0"/>
              <a:t>E.g. // TODO: Refactor this hack</a:t>
            </a:r>
          </a:p>
          <a:p>
            <a:pPr lvl="1" algn="just"/>
            <a:r>
              <a:rPr lang="en-GB" b="1" dirty="0"/>
              <a:t>Self-Admitted Security Debt (SASD): </a:t>
            </a:r>
            <a:r>
              <a:rPr lang="en-GB" dirty="0"/>
              <a:t>The security-specific subset of SATD [2].</a:t>
            </a:r>
          </a:p>
          <a:p>
            <a:pPr lvl="2" algn="just"/>
            <a:r>
              <a:rPr lang="en-GB" dirty="0"/>
              <a:t>E.g. # FIXME: sanitize input to prevent XSS</a:t>
            </a:r>
          </a:p>
        </p:txBody>
      </p:sp>
    </p:spTree>
    <p:extLst>
      <p:ext uri="{BB962C8B-B14F-4D97-AF65-F5344CB8AC3E}">
        <p14:creationId xmlns:p14="http://schemas.microsoft.com/office/powerpoint/2010/main" val="37811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3FA4-312C-695F-57CE-26F6E31C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 (Condensed)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40DC7-547E-CF7F-E8FD-638AB4299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Existing Frameworks &amp; Tools</a:t>
            </a:r>
          </a:p>
          <a:p>
            <a:pPr lvl="1"/>
            <a:r>
              <a:rPr lang="en-GB" b="1" dirty="0"/>
              <a:t>ACT-S Framework</a:t>
            </a:r>
            <a:r>
              <a:rPr lang="en-GB" dirty="0"/>
              <a:t>: Classifies security debt into Requirement, Architectural, Code, and Testing subtypes [5].</a:t>
            </a:r>
          </a:p>
          <a:p>
            <a:pPr lvl="1"/>
            <a:r>
              <a:rPr lang="en-GB" b="1" dirty="0"/>
              <a:t>General Technical Debt Tools</a:t>
            </a:r>
            <a:r>
              <a:rPr lang="en-GB" dirty="0"/>
              <a:t>: SonarQube, Jira plugins focus on code quality and simple keywords – miss nuanced security debt [2].</a:t>
            </a:r>
          </a:p>
          <a:p>
            <a:pPr lvl="1"/>
            <a:r>
              <a:rPr lang="en-GB" b="1" dirty="0"/>
              <a:t>Manual &amp; Keyword Methods</a:t>
            </a:r>
            <a:r>
              <a:rPr lang="en-GB" dirty="0"/>
              <a:t>: Human code reviews and regex (regular-expression) or keyword scans catch obvious issues but lack scalability and context [7, 8].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07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DA89-414A-3DBE-7A70-0B24487B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 (Condensed)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6582-BCB4-A510-75D7-72724766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Gaps in Current Market</a:t>
            </a:r>
          </a:p>
          <a:p>
            <a:pPr lvl="1"/>
            <a:r>
              <a:rPr lang="en-GB" b="1" dirty="0"/>
              <a:t>No E2E Automation </a:t>
            </a:r>
            <a:r>
              <a:rPr lang="en-GB" dirty="0"/>
              <a:t>for detecting and categorising SASD across code, commits, and issues [2].</a:t>
            </a:r>
          </a:p>
          <a:p>
            <a:pPr lvl="1"/>
            <a:r>
              <a:rPr lang="en-GB" b="1" dirty="0"/>
              <a:t>Underexplored Security Angle</a:t>
            </a:r>
            <a:r>
              <a:rPr lang="en-GB" dirty="0"/>
              <a:t>: NLP-driven SATD tools rarely target security-specific debt [4].</a:t>
            </a:r>
          </a:p>
          <a:p>
            <a:pPr lvl="1"/>
            <a:r>
              <a:rPr lang="en-GB" b="1" dirty="0"/>
              <a:t>Missing CWE Integration</a:t>
            </a:r>
            <a:r>
              <a:rPr lang="en-GB" dirty="0"/>
              <a:t>: No automated mapping of detected SASD to familiar vulnerability frameworks [2].</a:t>
            </a:r>
          </a:p>
          <a:p>
            <a:pPr lvl="1"/>
            <a:r>
              <a:rPr lang="en-GB" b="1" dirty="0"/>
              <a:t>Scale &amp; Context Limits</a:t>
            </a:r>
            <a:r>
              <a:rPr lang="en-GB" dirty="0"/>
              <a:t>: Manual reviews and keyword scans fail on large, diverse codebases [2, 7].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374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ADFC-3BFE-7415-D821-9D9C20B7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Design &amp;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CBE6-ADAF-AE99-9C79-39D53AF76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Mixed-Methods Approach</a:t>
            </a:r>
          </a:p>
          <a:p>
            <a:pPr lvl="1"/>
            <a:r>
              <a:rPr lang="en-GB" dirty="0"/>
              <a:t>Combine quantitative metrics with qualitative manual checks.</a:t>
            </a:r>
          </a:p>
          <a:p>
            <a:pPr lvl="2"/>
            <a:r>
              <a:rPr lang="en-GB" b="1" dirty="0"/>
              <a:t>Quantitative</a:t>
            </a:r>
            <a:r>
              <a:rPr lang="en-GB" dirty="0"/>
              <a:t>: Measure recall &amp; F1-score over 10 runs.</a:t>
            </a:r>
          </a:p>
          <a:p>
            <a:pPr lvl="2"/>
            <a:r>
              <a:rPr lang="en-GB" b="1" dirty="0"/>
              <a:t>Qualitative</a:t>
            </a:r>
            <a:r>
              <a:rPr lang="en-GB" dirty="0"/>
              <a:t>: Manually verify samples to confirm true-positives.</a:t>
            </a:r>
          </a:p>
          <a:p>
            <a:pPr lvl="2"/>
            <a:r>
              <a:rPr lang="en-GB" b="1" dirty="0"/>
              <a:t>Robustness</a:t>
            </a:r>
            <a:r>
              <a:rPr lang="en-GB" dirty="0"/>
              <a:t>: Fixed and random seeds to capture model variability.</a:t>
            </a:r>
          </a:p>
          <a:p>
            <a:r>
              <a:rPr lang="en-GB" dirty="0"/>
              <a:t>Hypothesis 1 (H1)</a:t>
            </a:r>
          </a:p>
          <a:p>
            <a:pPr lvl="1"/>
            <a:r>
              <a:rPr lang="en-GB" dirty="0"/>
              <a:t>The NLP-based software will significantly improve identification of SASD comments compared to a keyword-based approach.</a:t>
            </a:r>
          </a:p>
          <a:p>
            <a:r>
              <a:rPr lang="en-GB" dirty="0"/>
              <a:t>Hypothesis 2 (H2)</a:t>
            </a:r>
          </a:p>
          <a:p>
            <a:pPr lvl="1"/>
            <a:r>
              <a:rPr lang="en-GB" dirty="0"/>
              <a:t>The NLP-based classifier will significantly improve CWE mapping accuracy compared to random assignment.</a:t>
            </a:r>
          </a:p>
        </p:txBody>
      </p:sp>
    </p:spTree>
    <p:extLst>
      <p:ext uri="{BB962C8B-B14F-4D97-AF65-F5344CB8AC3E}">
        <p14:creationId xmlns:p14="http://schemas.microsoft.com/office/powerpoint/2010/main" val="292848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69FC-5470-AD76-4B01-24B8A657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Collection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340B0-471F-A13E-06F5-BE5966B4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</a:t>
            </a:r>
          </a:p>
          <a:p>
            <a:pPr lvl="1"/>
            <a:r>
              <a:rPr lang="en-GB" b="1" dirty="0"/>
              <a:t>Source</a:t>
            </a:r>
            <a:r>
              <a:rPr lang="en-GB" dirty="0"/>
              <a:t>: Manually labelled SATD dataset by Everton da Silva Maldonado.</a:t>
            </a:r>
          </a:p>
          <a:p>
            <a:pPr lvl="1"/>
            <a:r>
              <a:rPr lang="en-GB" b="1" dirty="0"/>
              <a:t>Size</a:t>
            </a:r>
            <a:r>
              <a:rPr lang="en-GB" dirty="0"/>
              <a:t>: ~ 62,000 comment blocks from open-source Java projects.</a:t>
            </a:r>
          </a:p>
          <a:p>
            <a:pPr lvl="1"/>
            <a:r>
              <a:rPr lang="en-GB" b="1" dirty="0"/>
              <a:t>Metadata</a:t>
            </a:r>
            <a:r>
              <a:rPr lang="en-GB" dirty="0"/>
              <a:t>: Project ID (e.g. apache-ant-1.7.0), classification label, and comment text.</a:t>
            </a:r>
          </a:p>
          <a:p>
            <a:r>
              <a:rPr lang="en-GB" dirty="0"/>
              <a:t>Stratified Sampling</a:t>
            </a:r>
          </a:p>
          <a:p>
            <a:pPr lvl="1"/>
            <a:r>
              <a:rPr lang="en-GB" b="1" dirty="0"/>
              <a:t>1% sample </a:t>
            </a:r>
            <a:r>
              <a:rPr lang="en-GB" dirty="0"/>
              <a:t>of the full dataset for better manageability.</a:t>
            </a:r>
          </a:p>
          <a:p>
            <a:pPr lvl="1"/>
            <a:r>
              <a:rPr lang="en-GB" b="1" dirty="0"/>
              <a:t>Stratified by SATD class </a:t>
            </a:r>
            <a:r>
              <a:rPr lang="en-GB" dirty="0"/>
              <a:t>to preserve original label distributions.</a:t>
            </a:r>
          </a:p>
          <a:p>
            <a:pPr lvl="1"/>
            <a:r>
              <a:rPr lang="en-GB" b="1" dirty="0"/>
              <a:t>Multiple seeds </a:t>
            </a:r>
            <a:r>
              <a:rPr lang="en-GB" dirty="0"/>
              <a:t>(fixed and random) used across runs for robustness.</a:t>
            </a:r>
          </a:p>
        </p:txBody>
      </p:sp>
    </p:spTree>
    <p:extLst>
      <p:ext uri="{BB962C8B-B14F-4D97-AF65-F5344CB8AC3E}">
        <p14:creationId xmlns:p14="http://schemas.microsoft.com/office/powerpoint/2010/main" val="2909997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B67C-5CCA-DC53-3E3C-1CA31634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Collection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DCE5-AD7F-69F9-A2BF-F43B3FB96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Pipeline</a:t>
            </a:r>
          </a:p>
          <a:p>
            <a:pPr lvl="1" algn="just"/>
            <a:r>
              <a:rPr lang="en-GB" b="1" dirty="0"/>
              <a:t>CSV -&gt; Python Objects</a:t>
            </a:r>
            <a:r>
              <a:rPr lang="en-GB" dirty="0"/>
              <a:t>: Loaded comment blocks with metadata.</a:t>
            </a:r>
          </a:p>
          <a:p>
            <a:pPr lvl="1" algn="just"/>
            <a:r>
              <a:rPr lang="en-GB" b="1" dirty="0"/>
              <a:t>Synthetic Data Augmentation</a:t>
            </a:r>
            <a:r>
              <a:rPr lang="en-GB" dirty="0"/>
              <a:t>: Injected 20 security-debt examples to enrich SASD coverage.</a:t>
            </a:r>
          </a:p>
          <a:p>
            <a:pPr lvl="1" algn="just"/>
            <a:r>
              <a:rPr lang="en-GB" b="1" dirty="0"/>
              <a:t>ThreadPoolExecutor</a:t>
            </a:r>
            <a:r>
              <a:rPr lang="en-GB" dirty="0"/>
              <a:t>: 10-20 concurrent threads for parallel API calls.</a:t>
            </a:r>
          </a:p>
          <a:p>
            <a:pPr lvl="1" algn="just"/>
            <a:r>
              <a:rPr lang="en-GB" b="1" dirty="0"/>
              <a:t>Unified Output</a:t>
            </a:r>
            <a:r>
              <a:rPr lang="en-GB" dirty="0"/>
              <a:t>: Detection and CWE mappings saved to a combined CSV for metric computation.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529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0A08-3305-E45B-9109-173F406A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NLP Detection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1387-7DA3-63CE-ECFC-562A4234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Model</a:t>
            </a:r>
          </a:p>
          <a:p>
            <a:pPr lvl="1"/>
            <a:r>
              <a:rPr lang="en-GB" b="1" dirty="0"/>
              <a:t>GPT-3.5-Turbo via OpenAI API</a:t>
            </a:r>
            <a:r>
              <a:rPr lang="en-GB" dirty="0"/>
              <a:t>: Easy, cost-effective integration with good contextual understanding of unstructured text.</a:t>
            </a:r>
          </a:p>
          <a:p>
            <a:r>
              <a:rPr lang="en-GB" dirty="0"/>
              <a:t>Prompt Engineering</a:t>
            </a:r>
          </a:p>
          <a:p>
            <a:pPr lvl="1"/>
            <a:r>
              <a:rPr lang="en-GB" b="1" dirty="0"/>
              <a:t>Tailored Prompts</a:t>
            </a:r>
            <a:r>
              <a:rPr lang="en-GB" dirty="0"/>
              <a:t>: Instruct model to identify security debt.</a:t>
            </a:r>
          </a:p>
          <a:p>
            <a:pPr lvl="1"/>
            <a:r>
              <a:rPr lang="en-GB" b="1" dirty="0"/>
              <a:t>Yes/No Rationale</a:t>
            </a:r>
            <a:r>
              <a:rPr lang="en-GB" dirty="0"/>
              <a:t>: Model responds with binary flag and brief explanation.</a:t>
            </a:r>
          </a:p>
          <a:p>
            <a:pPr lvl="1"/>
            <a:r>
              <a:rPr lang="en-GB" b="1" dirty="0"/>
              <a:t>CWE Mapping Prompt</a:t>
            </a:r>
            <a:r>
              <a:rPr lang="en-GB" dirty="0"/>
              <a:t>: Follow-up prompt extracts CWE IDs for flagged items.</a:t>
            </a:r>
          </a:p>
          <a:p>
            <a:r>
              <a:rPr lang="en-GB" dirty="0"/>
              <a:t>Baseline Approach</a:t>
            </a:r>
          </a:p>
          <a:p>
            <a:pPr lvl="1"/>
            <a:r>
              <a:rPr lang="en-GB" b="1" dirty="0"/>
              <a:t>Fixed Keyword List</a:t>
            </a:r>
            <a:r>
              <a:rPr lang="en-GB" dirty="0"/>
              <a:t>: “security”, “vulnerability”, “ssl”, etc.</a:t>
            </a:r>
          </a:p>
          <a:p>
            <a:pPr lvl="1"/>
            <a:r>
              <a:rPr lang="en-GB" b="1" dirty="0"/>
              <a:t>Rule-based Scan</a:t>
            </a:r>
            <a:r>
              <a:rPr lang="en-GB" dirty="0"/>
              <a:t>: Flags any comment with &gt;= 1 keyword.</a:t>
            </a:r>
          </a:p>
          <a:p>
            <a:pPr lvl="1"/>
            <a:r>
              <a:rPr lang="en-GB" b="1" dirty="0"/>
              <a:t>Baseline Comparison</a:t>
            </a:r>
            <a:r>
              <a:rPr lang="en-GB" dirty="0"/>
              <a:t>: Serves as a non-NLP reference point.</a:t>
            </a:r>
          </a:p>
        </p:txBody>
      </p:sp>
    </p:spTree>
    <p:extLst>
      <p:ext uri="{BB962C8B-B14F-4D97-AF65-F5344CB8AC3E}">
        <p14:creationId xmlns:p14="http://schemas.microsoft.com/office/powerpoint/2010/main" val="412323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9AB8E-D9FA-16DE-D667-78F6499F5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8107790" cy="34315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/>
              <a:t>Live Demo of Developed Solution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10779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0011C4F-7FF0-7357-C559-B7679DC27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5AB93-1A3E-B744-9591-C5D90BAF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Setup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B27A-BD0A-A130-844E-0A3E8FD4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Parallel Runs</a:t>
            </a:r>
          </a:p>
          <a:p>
            <a:pPr lvl="1"/>
            <a:r>
              <a:rPr lang="en-GB" b="1" dirty="0"/>
              <a:t>10 Parallel runs </a:t>
            </a:r>
            <a:r>
              <a:rPr lang="en-GB" dirty="0"/>
              <a:t>per experiment to capture variability.</a:t>
            </a:r>
          </a:p>
          <a:p>
            <a:pPr lvl="1"/>
            <a:r>
              <a:rPr lang="en-GB" b="1" dirty="0"/>
              <a:t>Fixed Seeds </a:t>
            </a:r>
            <a:r>
              <a:rPr lang="en-GB" dirty="0"/>
              <a:t>(42, 99, 123) for most runs; </a:t>
            </a:r>
            <a:r>
              <a:rPr lang="en-GB" b="1" dirty="0"/>
              <a:t>Random Seeds </a:t>
            </a:r>
            <a:r>
              <a:rPr lang="en-GB" dirty="0"/>
              <a:t>on runs 3, 6, and 9.</a:t>
            </a:r>
          </a:p>
          <a:p>
            <a:pPr lvl="1"/>
            <a:r>
              <a:rPr lang="en-GB" b="1" dirty="0"/>
              <a:t>Manual Spot-checks</a:t>
            </a:r>
            <a:r>
              <a:rPr lang="en-GB" dirty="0"/>
              <a:t>: Three randomly sampled outputs per run for human verification.</a:t>
            </a:r>
          </a:p>
          <a:p>
            <a:r>
              <a:rPr lang="en-GB" dirty="0"/>
              <a:t>Metrics</a:t>
            </a:r>
          </a:p>
          <a:p>
            <a:pPr lvl="1"/>
            <a:r>
              <a:rPr lang="en-GB" dirty="0"/>
              <a:t>Detection Metrics (RQ1)</a:t>
            </a:r>
          </a:p>
          <a:p>
            <a:pPr lvl="2"/>
            <a:r>
              <a:rPr lang="en-GB" b="1" dirty="0"/>
              <a:t>Recall</a:t>
            </a:r>
            <a:r>
              <a:rPr lang="en-GB" dirty="0"/>
              <a:t>: True-positives / (True-positives + False-negatives)</a:t>
            </a:r>
          </a:p>
          <a:p>
            <a:pPr lvl="2"/>
            <a:r>
              <a:rPr lang="en-GB" b="1" dirty="0"/>
              <a:t>F1-score</a:t>
            </a:r>
            <a:r>
              <a:rPr lang="en-GB" dirty="0"/>
              <a:t>: 2 * (Precision * Recall) / (Precision + Recall)</a:t>
            </a:r>
          </a:p>
          <a:p>
            <a:pPr lvl="1"/>
            <a:r>
              <a:rPr lang="en-GB" dirty="0"/>
              <a:t>Mapping Metrics (RQ2)</a:t>
            </a:r>
          </a:p>
          <a:p>
            <a:pPr lvl="2"/>
            <a:r>
              <a:rPr lang="en-GB" b="1" dirty="0"/>
              <a:t>CWE Mapping Accuracy</a:t>
            </a:r>
            <a:r>
              <a:rPr lang="en-GB" dirty="0"/>
              <a:t>: Correct Assignments / Total Mapped * 100</a:t>
            </a:r>
          </a:p>
        </p:txBody>
      </p:sp>
    </p:spTree>
    <p:extLst>
      <p:ext uri="{BB962C8B-B14F-4D97-AF65-F5344CB8AC3E}">
        <p14:creationId xmlns:p14="http://schemas.microsoft.com/office/powerpoint/2010/main" val="2768156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FF88A-BEEC-733E-C45B-74C9C30D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GB" dirty="0"/>
              <a:t>Results &amp; Discussion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288E3-EB2E-06B1-E4DA-2DCC43E37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GB" dirty="0"/>
              <a:t>Detection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b="1" dirty="0"/>
              <a:t>Consistency</a:t>
            </a:r>
            <a:r>
              <a:rPr lang="en-GB" dirty="0"/>
              <a:t>: NLP performance stable across all 10 runs.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C06E31-C66A-DB8D-B46E-8F352C8EE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324836"/>
              </p:ext>
            </p:extLst>
          </p:nvPr>
        </p:nvGraphicFramePr>
        <p:xfrm>
          <a:off x="517867" y="3060662"/>
          <a:ext cx="6281930" cy="2654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539">
                  <a:extLst>
                    <a:ext uri="{9D8B030D-6E8A-4147-A177-3AD203B41FA5}">
                      <a16:colId xmlns:a16="http://schemas.microsoft.com/office/drawing/2014/main" val="3075475872"/>
                    </a:ext>
                  </a:extLst>
                </a:gridCol>
                <a:gridCol w="1964805">
                  <a:extLst>
                    <a:ext uri="{9D8B030D-6E8A-4147-A177-3AD203B41FA5}">
                      <a16:colId xmlns:a16="http://schemas.microsoft.com/office/drawing/2014/main" val="3016476450"/>
                    </a:ext>
                  </a:extLst>
                </a:gridCol>
                <a:gridCol w="2247586">
                  <a:extLst>
                    <a:ext uri="{9D8B030D-6E8A-4147-A177-3AD203B41FA5}">
                      <a16:colId xmlns:a16="http://schemas.microsoft.com/office/drawing/2014/main" val="1990350742"/>
                    </a:ext>
                  </a:extLst>
                </a:gridCol>
              </a:tblGrid>
              <a:tr h="663593"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Metric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Baseline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NLP</a:t>
                      </a:r>
                    </a:p>
                  </a:txBody>
                  <a:tcPr marL="150817" marR="150817" marT="75408" marB="75408"/>
                </a:tc>
                <a:extLst>
                  <a:ext uri="{0D108BD9-81ED-4DB2-BD59-A6C34878D82A}">
                    <a16:rowId xmlns:a16="http://schemas.microsoft.com/office/drawing/2014/main" val="3892842540"/>
                  </a:ext>
                </a:extLst>
              </a:tr>
              <a:tr h="663593"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Recall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~4-5% 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~95-100%</a:t>
                      </a:r>
                    </a:p>
                  </a:txBody>
                  <a:tcPr marL="150817" marR="150817" marT="75408" marB="75408"/>
                </a:tc>
                <a:extLst>
                  <a:ext uri="{0D108BD9-81ED-4DB2-BD59-A6C34878D82A}">
                    <a16:rowId xmlns:a16="http://schemas.microsoft.com/office/drawing/2014/main" val="3279112372"/>
                  </a:ext>
                </a:extLst>
              </a:tr>
              <a:tr h="663593"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Precision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100%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43-48%</a:t>
                      </a:r>
                    </a:p>
                  </a:txBody>
                  <a:tcPr marL="150817" marR="150817" marT="75408" marB="75408"/>
                </a:tc>
                <a:extLst>
                  <a:ext uri="{0D108BD9-81ED-4DB2-BD59-A6C34878D82A}">
                    <a16:rowId xmlns:a16="http://schemas.microsoft.com/office/drawing/2014/main" val="2378246297"/>
                  </a:ext>
                </a:extLst>
              </a:tr>
              <a:tr h="663593"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F1-score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~9%</a:t>
                      </a:r>
                    </a:p>
                  </a:txBody>
                  <a:tcPr marL="150817" marR="150817" marT="75408" marB="754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/>
                        <a:t>~60-64%</a:t>
                      </a:r>
                    </a:p>
                  </a:txBody>
                  <a:tcPr marL="150817" marR="150817" marT="75408" marB="75408"/>
                </a:tc>
                <a:extLst>
                  <a:ext uri="{0D108BD9-81ED-4DB2-BD59-A6C34878D82A}">
                    <a16:rowId xmlns:a16="http://schemas.microsoft.com/office/drawing/2014/main" val="940061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929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367B0-F6EF-4BEB-B1F2-EA2B3114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GB" dirty="0"/>
              <a:t>Results &amp; Discussion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629C-F3B6-DB46-90AE-189505D9A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GB" dirty="0"/>
              <a:t>Mapping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r>
              <a:rPr lang="en-GB" b="1" dirty="0"/>
              <a:t>Consistency</a:t>
            </a:r>
            <a:r>
              <a:rPr lang="en-GB" dirty="0"/>
              <a:t>: NLP mapping shows stable improvement over the baseline despite some variability.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30C96E-F5F3-E6B7-1587-2E4E2736C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457832"/>
              </p:ext>
            </p:extLst>
          </p:nvPr>
        </p:nvGraphicFramePr>
        <p:xfrm>
          <a:off x="534208" y="2778503"/>
          <a:ext cx="624924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394">
                  <a:extLst>
                    <a:ext uri="{9D8B030D-6E8A-4147-A177-3AD203B41FA5}">
                      <a16:colId xmlns:a16="http://schemas.microsoft.com/office/drawing/2014/main" val="228012710"/>
                    </a:ext>
                  </a:extLst>
                </a:gridCol>
                <a:gridCol w="2183977">
                  <a:extLst>
                    <a:ext uri="{9D8B030D-6E8A-4147-A177-3AD203B41FA5}">
                      <a16:colId xmlns:a16="http://schemas.microsoft.com/office/drawing/2014/main" val="513049057"/>
                    </a:ext>
                  </a:extLst>
                </a:gridCol>
                <a:gridCol w="1764877">
                  <a:extLst>
                    <a:ext uri="{9D8B030D-6E8A-4147-A177-3AD203B41FA5}">
                      <a16:colId xmlns:a16="http://schemas.microsoft.com/office/drawing/2014/main" val="267874588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endParaRPr lang="en-GB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Baseline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NLP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16463552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GB" sz="3300"/>
                        <a:t>Average Accuracy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0%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35.4%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744883090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GB" sz="3300"/>
                        <a:t>Range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-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25%-50%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098922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63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579B-48D1-4A0C-6587-4C436258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52EC-0523-01C0-BE10-18E110CF1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  <a:p>
            <a:pPr lvl="1"/>
            <a:r>
              <a:rPr lang="en-GB" dirty="0"/>
              <a:t>NLP-based detection vastly outperforms keyword scans.</a:t>
            </a:r>
          </a:p>
          <a:p>
            <a:pPr lvl="1"/>
            <a:r>
              <a:rPr lang="en-GB" dirty="0"/>
              <a:t>Demonstrated feasibility of mapping SASD to CWEs.</a:t>
            </a:r>
          </a:p>
          <a:p>
            <a:r>
              <a:rPr lang="en-GB" dirty="0"/>
              <a:t>Limitations</a:t>
            </a:r>
          </a:p>
          <a:p>
            <a:pPr lvl="1"/>
            <a:r>
              <a:rPr lang="en-GB" dirty="0"/>
              <a:t>Dataset security-debt coverage still limited.</a:t>
            </a:r>
          </a:p>
          <a:p>
            <a:pPr lvl="1"/>
            <a:r>
              <a:rPr lang="en-GB" dirty="0"/>
              <a:t>GPT-3.5 variability affects mapping consistency.</a:t>
            </a:r>
          </a:p>
          <a:p>
            <a:r>
              <a:rPr lang="en-GB" dirty="0"/>
              <a:t>Future Work</a:t>
            </a:r>
          </a:p>
          <a:p>
            <a:pPr lvl="1"/>
            <a:r>
              <a:rPr lang="en-GB" dirty="0"/>
              <a:t>Expand dataset with more diverse, contemporary security-debt examples.</a:t>
            </a:r>
          </a:p>
          <a:p>
            <a:pPr lvl="1"/>
            <a:r>
              <a:rPr lang="en-GB" dirty="0"/>
              <a:t>Further refine prompt engineering and test fine-tuned/ensemble models (BERT, </a:t>
            </a:r>
            <a:r>
              <a:rPr lang="en-GB" dirty="0" err="1"/>
              <a:t>RoBERTa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51097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4F0A-76C9-EFD8-62A5-7223EE489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22B40-C422-F939-648E-4C8AD5EE0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GB" dirty="0"/>
              <a:t>[1] S. </a:t>
            </a:r>
            <a:r>
              <a:rPr lang="en-GB" dirty="0" err="1"/>
              <a:t>Huopio</a:t>
            </a:r>
            <a:r>
              <a:rPr lang="en-GB" dirty="0"/>
              <a:t>, “A Quest for Indicators of Security Debt,” </a:t>
            </a:r>
            <a:r>
              <a:rPr lang="en-GB" i="1" dirty="0"/>
              <a:t>The Cyber </a:t>
            </a:r>
            <a:r>
              <a:rPr lang="en-GB" i="1" dirty="0" err="1"/>
              <a:t>Defense</a:t>
            </a:r>
            <a:r>
              <a:rPr lang="en-GB" i="1" dirty="0"/>
              <a:t> Review</a:t>
            </a:r>
            <a:r>
              <a:rPr lang="en-GB" dirty="0"/>
              <a:t>, vol. 5, no. 1, pp. 169–184, 2020.</a:t>
            </a:r>
          </a:p>
          <a:p>
            <a:pPr algn="just"/>
            <a:r>
              <a:rPr lang="en-GB" dirty="0"/>
              <a:t>[2] D. Ferreyra, M. Shahin, M. Zahedi, S. Quadri, and R. Scandariato, “What can self-admitted technical debt tell us about security? A mixed-methods study,” Apr. 2024.</a:t>
            </a:r>
          </a:p>
          <a:p>
            <a:pPr algn="just"/>
            <a:r>
              <a:rPr lang="en-GB" dirty="0"/>
              <a:t>[4] K. </a:t>
            </a:r>
            <a:r>
              <a:rPr lang="en-GB" dirty="0" err="1"/>
              <a:t>Rindell</a:t>
            </a:r>
            <a:r>
              <a:rPr lang="en-GB" dirty="0"/>
              <a:t>, K. </a:t>
            </a:r>
            <a:r>
              <a:rPr lang="en-GB" dirty="0" err="1"/>
              <a:t>Bernsmed</a:t>
            </a:r>
            <a:r>
              <a:rPr lang="en-GB" dirty="0"/>
              <a:t>, and M. </a:t>
            </a:r>
            <a:r>
              <a:rPr lang="en-GB" dirty="0" err="1"/>
              <a:t>Jaatun</a:t>
            </a:r>
            <a:r>
              <a:rPr lang="en-GB" dirty="0"/>
              <a:t>, “Managing security in software or: How I learned to stop worrying and manage the security technical debt,” 2019.</a:t>
            </a:r>
          </a:p>
          <a:p>
            <a:pPr algn="just"/>
            <a:r>
              <a:rPr lang="en-GB" dirty="0"/>
              <a:t>[6] A. Potdar and E. Shihab, “An exploratory study on self-admitted technical debt,” in </a:t>
            </a:r>
            <a:r>
              <a:rPr lang="en-GB" i="1" dirty="0"/>
              <a:t>Proc. ICSME</a:t>
            </a:r>
            <a:r>
              <a:rPr lang="en-GB" dirty="0"/>
              <a:t>, Sep. 2014.</a:t>
            </a:r>
          </a:p>
          <a:p>
            <a:pPr algn="just"/>
            <a:r>
              <a:rPr lang="en-GB" dirty="0"/>
              <a:t>[7] T. Fahmawi, A. </a:t>
            </a:r>
            <a:r>
              <a:rPr lang="en-GB" dirty="0" err="1"/>
              <a:t>Nabot</a:t>
            </a:r>
            <a:r>
              <a:rPr lang="en-GB" dirty="0"/>
              <a:t>, I. </a:t>
            </a:r>
            <a:r>
              <a:rPr lang="en-GB" dirty="0" err="1"/>
              <a:t>Jebreen</a:t>
            </a:r>
            <a:r>
              <a:rPr lang="en-GB" dirty="0"/>
              <a:t>, and A. Al-</a:t>
            </a:r>
            <a:r>
              <a:rPr lang="en-GB" dirty="0" err="1"/>
              <a:t>Qerem</a:t>
            </a:r>
            <a:r>
              <a:rPr lang="en-GB" dirty="0"/>
              <a:t>, “Exploring code vulnerabilities through code reviews: An empirical study on OpenStack Nova,” </a:t>
            </a:r>
            <a:r>
              <a:rPr lang="en-GB" i="1" dirty="0"/>
              <a:t>J. Stat. Appl. </a:t>
            </a:r>
            <a:r>
              <a:rPr lang="en-GB" i="1" dirty="0" err="1"/>
              <a:t>Probab</a:t>
            </a:r>
            <a:r>
              <a:rPr lang="en-GB" i="1" dirty="0"/>
              <a:t>.</a:t>
            </a:r>
            <a:r>
              <a:rPr lang="en-GB" dirty="0"/>
              <a:t>, vol. 13, no. 2, pp. 681–689, 2024.</a:t>
            </a:r>
          </a:p>
          <a:p>
            <a:pPr algn="just"/>
            <a:r>
              <a:rPr lang="en-GB" dirty="0"/>
              <a:t>[8] J. Wei and K. Zou, “EDA: Easy data augmentation techniques for boosting performance on text classification tasks,” 2019.</a:t>
            </a:r>
          </a:p>
          <a:p>
            <a:pPr algn="just"/>
            <a:r>
              <a:rPr lang="en-GB" dirty="0"/>
              <a:t>[9] L. </a:t>
            </a:r>
            <a:r>
              <a:rPr lang="en-GB" dirty="0" err="1"/>
              <a:t>Yikun</a:t>
            </a:r>
            <a:r>
              <a:rPr lang="en-GB" dirty="0"/>
              <a:t>, M. Soliman, and P. </a:t>
            </a:r>
            <a:r>
              <a:rPr lang="en-GB" dirty="0" err="1"/>
              <a:t>Avgeriou</a:t>
            </a:r>
            <a:r>
              <a:rPr lang="en-GB" dirty="0"/>
              <a:t>, “Identifying self-admitted technical debt in issue tracking systems using machine learning,” </a:t>
            </a:r>
            <a:r>
              <a:rPr lang="en-GB" i="1" dirty="0" err="1"/>
              <a:t>arXiv</a:t>
            </a:r>
            <a:r>
              <a:rPr lang="en-GB" dirty="0"/>
              <a:t> preprint arXiv:2202.02180, Feb. 2022.</a:t>
            </a:r>
          </a:p>
        </p:txBody>
      </p:sp>
    </p:spTree>
    <p:extLst>
      <p:ext uri="{BB962C8B-B14F-4D97-AF65-F5344CB8AC3E}">
        <p14:creationId xmlns:p14="http://schemas.microsoft.com/office/powerpoint/2010/main" val="879588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613D1100-4122-67C3-A96B-726692C99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622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5A1A2-7FA4-7F44-2C86-4F8F3088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0395-3351-5268-A379-DA044FD09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4482450"/>
            <a:ext cx="5040785" cy="17240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i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8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1445</Words>
  <Application>Microsoft Office PowerPoint</Application>
  <PresentationFormat>Widescreen</PresentationFormat>
  <Paragraphs>165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Bierstadt</vt:lpstr>
      <vt:lpstr>GestaltVTI</vt:lpstr>
      <vt:lpstr>Detecting Self-Admitted Security Debt in Projects using Natural Language Processing</vt:lpstr>
      <vt:lpstr>Outline</vt:lpstr>
      <vt:lpstr>Introduction</vt:lpstr>
      <vt:lpstr>Introduction</vt:lpstr>
      <vt:lpstr>Introduction</vt:lpstr>
      <vt:lpstr>Research Aims</vt:lpstr>
      <vt:lpstr>Research Questions</vt:lpstr>
      <vt:lpstr>Literature Review (Condensed)</vt:lpstr>
      <vt:lpstr>Literature Review (Condensed)</vt:lpstr>
      <vt:lpstr>Literature Review (Condensed)</vt:lpstr>
      <vt:lpstr>Research Design &amp; Hypotheses</vt:lpstr>
      <vt:lpstr>Data Collection &amp; Preprocessing</vt:lpstr>
      <vt:lpstr>Data Collection and Preprocessing</vt:lpstr>
      <vt:lpstr>NLP Detection Approach</vt:lpstr>
      <vt:lpstr>Live Demo of Developed Solution</vt:lpstr>
      <vt:lpstr>Experimental Setup &amp; Metrics</vt:lpstr>
      <vt:lpstr>Results &amp; Discussion</vt:lpstr>
      <vt:lpstr>Results &amp; Discussion</vt:lpstr>
      <vt:lpstr>Conclusions &amp; Future Work</vt:lpstr>
      <vt:lpstr>References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Blake Harris</dc:creator>
  <cp:lastModifiedBy>Blake Harris</cp:lastModifiedBy>
  <cp:revision>22</cp:revision>
  <dcterms:created xsi:type="dcterms:W3CDTF">2025-04-25T17:42:31Z</dcterms:created>
  <dcterms:modified xsi:type="dcterms:W3CDTF">2025-05-05T12:12:05Z</dcterms:modified>
</cp:coreProperties>
</file>